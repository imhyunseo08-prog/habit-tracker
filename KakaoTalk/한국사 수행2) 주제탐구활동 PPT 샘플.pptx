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8" r:id="rId3"/>
    <p:sldId id="257" r:id="rId4"/>
    <p:sldId id="258" r:id="rId5"/>
    <p:sldId id="269" r:id="rId6"/>
    <p:sldId id="270" r:id="rId7"/>
    <p:sldId id="27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eb20042b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eb20042b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b20042b7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eb20042b7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148678"/>
            <a:ext cx="8520600" cy="1145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400" b="1" dirty="0">
                <a:solidFill>
                  <a:srgbClr val="FF0000"/>
                </a:solidFill>
                <a:latin typeface="+mj-ea"/>
                <a:ea typeface="+mj-ea"/>
              </a:rPr>
              <a:t>선정한 주제 입력</a:t>
            </a:r>
            <a:endParaRPr sz="5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37326" y="164300"/>
            <a:ext cx="4151140" cy="438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latin typeface="+mj-ea"/>
                <a:ea typeface="+mj-ea"/>
              </a:rPr>
              <a:t>한국사 수행</a:t>
            </a:r>
            <a:r>
              <a:rPr lang="en-US" altLang="ko-KR" sz="1500" b="1" dirty="0">
                <a:latin typeface="+mj-ea"/>
                <a:ea typeface="+mj-ea"/>
              </a:rPr>
              <a:t>2) </a:t>
            </a:r>
            <a:r>
              <a:rPr lang="ko-KR" altLang="en-US" sz="1500" b="1" dirty="0">
                <a:latin typeface="+mj-ea"/>
                <a:ea typeface="+mj-ea"/>
              </a:rPr>
              <a:t>주제탐구활동</a:t>
            </a:r>
            <a:endParaRPr sz="1500" b="1" dirty="0">
              <a:latin typeface="+mj-ea"/>
              <a:ea typeface="+mj-e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762287" y="2571750"/>
            <a:ext cx="2204484" cy="287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2500" b="1" dirty="0">
                <a:latin typeface="+mn-ea"/>
                <a:ea typeface="+mn-ea"/>
              </a:rPr>
              <a:t>1</a:t>
            </a:r>
            <a:r>
              <a:rPr lang="ko-KR" altLang="en-US" sz="2500" b="1" dirty="0" err="1">
                <a:latin typeface="+mn-ea"/>
                <a:ea typeface="+mn-ea"/>
              </a:rPr>
              <a:t>모둠원</a:t>
            </a:r>
            <a:endParaRPr lang="en-US" altLang="ko-KR" sz="2500" b="1" dirty="0">
              <a:latin typeface="+mn-ea"/>
              <a:ea typeface="+mn-ea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AutoNum type="arabicPlain" startAt="1830"/>
            </a:pPr>
            <a:r>
              <a:rPr lang="ko-KR" altLang="en-US" sz="2000" dirty="0">
                <a:latin typeface="+mn-ea"/>
                <a:ea typeface="+mn-ea"/>
              </a:rPr>
              <a:t> 홍길동</a:t>
            </a:r>
            <a:endParaRPr lang="en-US" altLang="ko-KR" sz="2000" dirty="0">
              <a:latin typeface="+mn-ea"/>
              <a:ea typeface="+mn-ea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AutoNum type="arabicPlain" startAt="1830"/>
            </a:pPr>
            <a:r>
              <a:rPr lang="ko-KR" altLang="en-US" sz="2000" dirty="0">
                <a:latin typeface="+mn-ea"/>
                <a:ea typeface="+mn-ea"/>
              </a:rPr>
              <a:t> 김</a:t>
            </a:r>
            <a:r>
              <a:rPr lang="en-US" altLang="ko-KR" sz="2000" dirty="0">
                <a:latin typeface="+mn-ea"/>
                <a:ea typeface="+mn-ea"/>
              </a:rPr>
              <a:t>OO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AutoNum type="arabicPlain" startAt="1830"/>
            </a:pPr>
            <a:r>
              <a:rPr lang="ko-KR" altLang="en-US" sz="2000" dirty="0">
                <a:latin typeface="+mn-ea"/>
                <a:ea typeface="+mn-ea"/>
              </a:rPr>
              <a:t> 이</a:t>
            </a:r>
            <a:r>
              <a:rPr lang="en-US" altLang="ko-KR" sz="2000" dirty="0">
                <a:latin typeface="+mn-ea"/>
                <a:ea typeface="+mn-ea"/>
              </a:rPr>
              <a:t>OO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AutoNum type="arabicPlain" startAt="1830"/>
            </a:pPr>
            <a:r>
              <a:rPr lang="en-US" altLang="ko-KR" sz="2000" dirty="0">
                <a:latin typeface="+mn-ea"/>
                <a:ea typeface="+mn-ea"/>
              </a:rPr>
              <a:t> </a:t>
            </a:r>
            <a:r>
              <a:rPr lang="ko-KR" altLang="en-US" sz="2000" dirty="0">
                <a:latin typeface="+mn-ea"/>
                <a:ea typeface="+mn-ea"/>
              </a:rPr>
              <a:t>박</a:t>
            </a:r>
            <a:r>
              <a:rPr lang="en-US" altLang="ko-KR" sz="2000" dirty="0">
                <a:latin typeface="+mn-ea"/>
                <a:ea typeface="+mn-ea"/>
              </a:rPr>
              <a:t>OO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AutoNum type="arabicPlain" startAt="1830"/>
            </a:pPr>
            <a:r>
              <a:rPr lang="en-US" altLang="ko-KR" sz="2000" dirty="0">
                <a:latin typeface="+mn-ea"/>
                <a:ea typeface="+mn-ea"/>
              </a:rPr>
              <a:t> </a:t>
            </a:r>
            <a:r>
              <a:rPr lang="ko-KR" altLang="en-US" sz="2000" dirty="0">
                <a:latin typeface="+mn-ea"/>
                <a:ea typeface="+mn-ea"/>
              </a:rPr>
              <a:t>정</a:t>
            </a:r>
            <a:r>
              <a:rPr lang="en-US" altLang="ko-KR" sz="2000" dirty="0">
                <a:latin typeface="+mn-ea"/>
                <a:ea typeface="+mn-ea"/>
              </a:rPr>
              <a:t>OO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AutoNum type="arabicPlain" startAt="1830"/>
            </a:pPr>
            <a:endParaRPr lang="en-US" altLang="ko-KR" sz="2500" dirty="0">
              <a:latin typeface="+mn-ea"/>
              <a:ea typeface="+mn-ea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AutoNum type="arabicPlain" startAt="1830"/>
            </a:pPr>
            <a:endParaRPr lang="en-US" altLang="ko-KR" sz="25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2;p14">
            <a:extLst>
              <a:ext uri="{FF2B5EF4-FFF2-40B4-BE49-F238E27FC236}">
                <a16:creationId xmlns:a16="http://schemas.microsoft.com/office/drawing/2014/main" id="{9D458EDF-7E4A-463E-A024-003FBD8D331C}"/>
              </a:ext>
            </a:extLst>
          </p:cNvPr>
          <p:cNvSpPr txBox="1">
            <a:spLocks/>
          </p:cNvSpPr>
          <p:nvPr/>
        </p:nvSpPr>
        <p:spPr>
          <a:xfrm>
            <a:off x="311700" y="54618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ko-KR" sz="3000" b="1" dirty="0">
                <a:solidFill>
                  <a:srgbClr val="FF0000"/>
                </a:solidFill>
                <a:latin typeface="+mj-ea"/>
                <a:ea typeface="+mj-ea"/>
              </a:rPr>
              <a:t>&lt;PPT</a:t>
            </a:r>
            <a:r>
              <a:rPr lang="ko-KR" altLang="en-US" sz="3000" b="1" dirty="0">
                <a:solidFill>
                  <a:srgbClr val="FF0000"/>
                </a:solidFill>
                <a:latin typeface="+mj-ea"/>
                <a:ea typeface="+mj-ea"/>
              </a:rPr>
              <a:t> 제작 시 유의사항</a:t>
            </a:r>
            <a:r>
              <a:rPr lang="en-US" altLang="ko-KR" sz="3000" b="1" dirty="0">
                <a:solidFill>
                  <a:srgbClr val="FF0000"/>
                </a:solidFill>
                <a:latin typeface="+mj-ea"/>
                <a:ea typeface="+mj-ea"/>
              </a:rPr>
              <a:t>&gt;</a:t>
            </a:r>
          </a:p>
          <a:p>
            <a:pPr>
              <a:spcAft>
                <a:spcPts val="1200"/>
              </a:spcAft>
            </a:pPr>
            <a:endParaRPr lang="en-US" altLang="ko-KR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altLang="ko-KR" sz="2000" dirty="0">
                <a:latin typeface="+mn-ea"/>
                <a:ea typeface="+mn-ea"/>
              </a:rPr>
              <a:t>PPT</a:t>
            </a:r>
            <a:r>
              <a:rPr lang="ko-KR" altLang="en-US" sz="2000" dirty="0">
                <a:latin typeface="+mn-ea"/>
                <a:ea typeface="+mn-ea"/>
              </a:rPr>
              <a:t>는 </a:t>
            </a:r>
            <a:r>
              <a:rPr lang="ko-KR" altLang="en-US" sz="2000" b="1" dirty="0">
                <a:latin typeface="+mn-ea"/>
                <a:ea typeface="+mn-ea"/>
              </a:rPr>
              <a:t>간단</a:t>
            </a:r>
            <a:r>
              <a:rPr lang="en-US" altLang="ko-KR" sz="2000" b="1" dirty="0">
                <a:latin typeface="+mn-ea"/>
                <a:ea typeface="+mn-ea"/>
              </a:rPr>
              <a:t>, </a:t>
            </a:r>
            <a:r>
              <a:rPr lang="ko-KR" altLang="en-US" sz="2000" b="1" dirty="0">
                <a:latin typeface="+mn-ea"/>
                <a:ea typeface="+mn-ea"/>
              </a:rPr>
              <a:t>명료</a:t>
            </a:r>
            <a:r>
              <a:rPr lang="ko-KR" altLang="en-US" sz="2000" dirty="0">
                <a:latin typeface="+mn-ea"/>
                <a:ea typeface="+mn-ea"/>
              </a:rPr>
              <a:t>하게 청중이 이해하기 쉽게 제작해야 함</a:t>
            </a:r>
            <a:endParaRPr lang="en-US" altLang="ko-KR" sz="2000" dirty="0">
              <a:latin typeface="+mn-ea"/>
              <a:ea typeface="+mn-ea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글과 사진 등을 적절히 배치하고 </a:t>
            </a:r>
            <a:r>
              <a:rPr lang="ko-KR" altLang="en-US" sz="2000" b="1" dirty="0">
                <a:latin typeface="+mn-ea"/>
                <a:ea typeface="+mn-ea"/>
              </a:rPr>
              <a:t>글자를 지나치게 많이 입력하지 말 것</a:t>
            </a:r>
            <a:endParaRPr lang="en-US" altLang="ko-KR" sz="2000" b="1" dirty="0">
              <a:latin typeface="+mn-ea"/>
              <a:ea typeface="+mn-ea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ko-KR" altLang="en-US" sz="2000" b="1" dirty="0">
                <a:latin typeface="+mn-ea"/>
                <a:ea typeface="+mn-ea"/>
              </a:rPr>
              <a:t>도표</a:t>
            </a:r>
            <a:r>
              <a:rPr lang="ko-KR" altLang="en-US" sz="2000" dirty="0">
                <a:latin typeface="+mn-ea"/>
                <a:ea typeface="+mn-ea"/>
              </a:rPr>
              <a:t> 활용 및 내용 </a:t>
            </a:r>
            <a:r>
              <a:rPr lang="ko-KR" altLang="en-US" sz="2000" b="1" dirty="0">
                <a:latin typeface="+mn-ea"/>
                <a:ea typeface="+mn-ea"/>
              </a:rPr>
              <a:t>요약</a:t>
            </a:r>
            <a:r>
              <a:rPr lang="ko-KR" altLang="en-US" sz="2000" dirty="0">
                <a:latin typeface="+mn-ea"/>
                <a:ea typeface="+mn-ea"/>
              </a:rPr>
              <a:t>을 통해 </a:t>
            </a:r>
            <a:r>
              <a:rPr lang="ko-KR" altLang="en-US" sz="2000" dirty="0" err="1">
                <a:latin typeface="+mn-ea"/>
                <a:ea typeface="+mn-ea"/>
              </a:rPr>
              <a:t>전달력을</a:t>
            </a:r>
            <a:r>
              <a:rPr lang="ko-KR" altLang="en-US" sz="2000" dirty="0">
                <a:latin typeface="+mn-ea"/>
                <a:ea typeface="+mn-ea"/>
              </a:rPr>
              <a:t> 높일 것</a:t>
            </a:r>
            <a:endParaRPr lang="en-US" altLang="ko-KR" sz="2000" dirty="0">
              <a:latin typeface="+mn-ea"/>
              <a:ea typeface="+mn-ea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ko-KR" altLang="en-US" sz="2000" b="1" dirty="0" err="1">
                <a:latin typeface="+mn-ea"/>
                <a:ea typeface="+mn-ea"/>
              </a:rPr>
              <a:t>미리캔버스</a:t>
            </a:r>
            <a:r>
              <a:rPr lang="ko-KR" altLang="en-US" sz="2000" dirty="0">
                <a:latin typeface="+mn-ea"/>
                <a:ea typeface="+mn-ea"/>
              </a:rPr>
              <a:t> 사용 가능</a:t>
            </a:r>
            <a:r>
              <a:rPr lang="en-US" altLang="ko-KR" sz="1800" dirty="0">
                <a:latin typeface="+mn-ea"/>
                <a:ea typeface="+mn-ea"/>
              </a:rPr>
              <a:t>(PDF</a:t>
            </a:r>
            <a:r>
              <a:rPr lang="ko-KR" altLang="en-US" sz="1800" dirty="0">
                <a:latin typeface="+mn-ea"/>
                <a:ea typeface="+mn-ea"/>
              </a:rPr>
              <a:t>형식으로 저장</a:t>
            </a:r>
            <a:r>
              <a:rPr lang="en-US" altLang="ko-KR" sz="1800" dirty="0">
                <a:latin typeface="+mn-ea"/>
                <a:ea typeface="+mn-ea"/>
              </a:rPr>
              <a:t>)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</a:p>
          <a:p>
            <a:pPr>
              <a:spcAft>
                <a:spcPts val="1200"/>
              </a:spcAft>
            </a:pPr>
            <a:r>
              <a:rPr lang="en-US" altLang="ko-KR" sz="2000" dirty="0">
                <a:latin typeface="+mn-ea"/>
                <a:ea typeface="+mn-ea"/>
              </a:rPr>
              <a:t>   </a:t>
            </a:r>
            <a:r>
              <a:rPr lang="ko-KR" altLang="en-US" sz="2000" dirty="0">
                <a:latin typeface="+mn-ea"/>
                <a:ea typeface="+mn-ea"/>
              </a:rPr>
              <a:t>이 파일의 구성 내용은 필수로 들어가야함 </a:t>
            </a:r>
            <a:endParaRPr lang="en-US" altLang="ko-KR" sz="2000" dirty="0">
              <a:latin typeface="+mn-ea"/>
              <a:ea typeface="+mn-ea"/>
            </a:endParaRPr>
          </a:p>
          <a:p>
            <a:pPr>
              <a:spcAft>
                <a:spcPts val="1200"/>
              </a:spcAft>
            </a:pPr>
            <a:r>
              <a:rPr lang="en-US" altLang="ko-KR" sz="1500" dirty="0">
                <a:latin typeface="+mn-ea"/>
                <a:ea typeface="+mn-ea"/>
              </a:rPr>
              <a:t>    * </a:t>
            </a:r>
            <a:r>
              <a:rPr lang="ko-KR" altLang="en-US" sz="1500" dirty="0">
                <a:latin typeface="+mn-ea"/>
                <a:ea typeface="+mn-ea"/>
              </a:rPr>
              <a:t>슬라이드 바탕 화면이 밝고 옅은 색일때는 글꼴 색깔이 짙어야 잘 보이고</a:t>
            </a:r>
            <a:r>
              <a:rPr lang="en-US" altLang="ko-KR" sz="1500" dirty="0">
                <a:latin typeface="+mn-ea"/>
                <a:ea typeface="+mn-ea"/>
              </a:rPr>
              <a:t>, </a:t>
            </a:r>
          </a:p>
          <a:p>
            <a:pPr>
              <a:spcAft>
                <a:spcPts val="1200"/>
              </a:spcAft>
            </a:pPr>
            <a:r>
              <a:rPr lang="en-US" altLang="ko-KR" sz="1500" dirty="0">
                <a:latin typeface="+mn-ea"/>
                <a:ea typeface="+mn-ea"/>
              </a:rPr>
              <a:t>     </a:t>
            </a:r>
            <a:r>
              <a:rPr lang="ko-KR" altLang="en-US" sz="1500" dirty="0">
                <a:latin typeface="+mn-ea"/>
                <a:ea typeface="+mn-ea"/>
              </a:rPr>
              <a:t>바탕 화면이 어두울 경우 글꼴은 밝고 흰색</a:t>
            </a:r>
            <a:r>
              <a:rPr lang="en-US" altLang="ko-KR" sz="1500" dirty="0">
                <a:latin typeface="+mn-ea"/>
                <a:ea typeface="+mn-ea"/>
              </a:rPr>
              <a:t>, </a:t>
            </a:r>
            <a:r>
              <a:rPr lang="ko-KR" altLang="en-US" sz="1500" dirty="0">
                <a:latin typeface="+mn-ea"/>
                <a:ea typeface="+mn-ea"/>
              </a:rPr>
              <a:t>옅은 색깔이어야 잘 보임</a:t>
            </a:r>
            <a:endParaRPr lang="en-US" altLang="ko-KR" sz="15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899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70675"/>
            <a:ext cx="8520600" cy="2593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SzPts val="990"/>
            </a:pPr>
            <a:r>
              <a:rPr lang="en-US" altLang="ko-KR" sz="3000" b="1" dirty="0">
                <a:latin typeface="+mj-ea"/>
                <a:ea typeface="+mj-ea"/>
              </a:rPr>
              <a:t>&lt;</a:t>
            </a:r>
            <a:r>
              <a:rPr lang="ko-KR" altLang="en-US" sz="3000" b="1" dirty="0">
                <a:latin typeface="+mj-ea"/>
                <a:ea typeface="+mj-ea"/>
              </a:rPr>
              <a:t>역할</a:t>
            </a:r>
            <a:r>
              <a:rPr lang="en-US" altLang="ko-KR" sz="3000" b="1" dirty="0">
                <a:latin typeface="+mj-ea"/>
                <a:ea typeface="+mj-ea"/>
              </a:rPr>
              <a:t>1&gt; </a:t>
            </a:r>
            <a:r>
              <a:rPr lang="ko-KR" altLang="en-US" sz="3000" b="1" dirty="0">
                <a:latin typeface="+mj-ea"/>
                <a:ea typeface="+mj-ea"/>
              </a:rPr>
              <a:t>읽은 책</a:t>
            </a:r>
            <a:r>
              <a:rPr lang="en-US" altLang="ko-KR" sz="3000" b="1" dirty="0">
                <a:latin typeface="+mj-ea"/>
                <a:ea typeface="+mj-ea"/>
              </a:rPr>
              <a:t> </a:t>
            </a:r>
            <a:r>
              <a:rPr lang="ko-KR" altLang="en-US" sz="3000" b="1" dirty="0">
                <a:latin typeface="+mj-ea"/>
                <a:ea typeface="+mj-ea"/>
              </a:rPr>
              <a:t>소개 </a:t>
            </a:r>
            <a:r>
              <a:rPr lang="en-US" altLang="ko-KR" sz="3000" b="1" dirty="0">
                <a:latin typeface="+mj-ea"/>
                <a:ea typeface="+mj-ea"/>
              </a:rPr>
              <a:t>&amp;</a:t>
            </a:r>
            <a:r>
              <a:rPr lang="ko-KR" altLang="en-US" sz="3000" b="1" dirty="0">
                <a:latin typeface="+mj-ea"/>
                <a:ea typeface="+mj-ea"/>
              </a:rPr>
              <a:t> 주제 선정 이유 </a:t>
            </a:r>
            <a:br>
              <a:rPr lang="en-US" altLang="ko-KR" sz="3000" b="1" dirty="0">
                <a:latin typeface="+mj-ea"/>
                <a:ea typeface="+mj-ea"/>
              </a:rPr>
            </a:br>
            <a:r>
              <a:rPr lang="ko-KR" altLang="en-US" sz="2500" b="1" dirty="0">
                <a:latin typeface="+mn-ea"/>
                <a:ea typeface="+mn-ea"/>
              </a:rPr>
              <a:t>역할 분담 </a:t>
            </a:r>
            <a:r>
              <a:rPr lang="en-US" altLang="ko-KR" sz="2500" b="1" dirty="0">
                <a:latin typeface="+mn-ea"/>
                <a:ea typeface="+mn-ea"/>
              </a:rPr>
              <a:t>: 1830</a:t>
            </a:r>
            <a:r>
              <a:rPr lang="ko-KR" altLang="en-US" sz="2500" b="1" dirty="0">
                <a:latin typeface="+mn-ea"/>
                <a:ea typeface="+mn-ea"/>
              </a:rPr>
              <a:t> 홍길동</a:t>
            </a:r>
            <a:br>
              <a:rPr lang="en-US" altLang="ko-KR" sz="3000" b="1" dirty="0"/>
            </a:br>
            <a:br>
              <a:rPr lang="en-US" altLang="ko-KR" sz="2500" b="1" dirty="0"/>
            </a:br>
            <a:r>
              <a:rPr lang="en-US" altLang="ko-KR" sz="2500" b="1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해당 주제를 선정한 학생이 작성할 것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- 2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슬라이드 이상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간단한 책 소개</a:t>
            </a: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사진</a:t>
            </a: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작가의 </a:t>
            </a:r>
            <a:r>
              <a:rPr lang="ko-KR" altLang="en-US" sz="2000" dirty="0" err="1">
                <a:solidFill>
                  <a:srgbClr val="FF0000"/>
                </a:solidFill>
                <a:latin typeface="+mn-ea"/>
                <a:ea typeface="+mn-ea"/>
              </a:rPr>
              <a:t>소개글</a:t>
            </a: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핵심 내용 등 적절하게 구성</a:t>
            </a: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b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주제 선정 이유</a:t>
            </a: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주제가 어떤 의미가 있는지</a:t>
            </a: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왜 궁금했는지 등</a:t>
            </a: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b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</a:br>
            <a:endParaRPr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p14">
            <a:extLst>
              <a:ext uri="{FF2B5EF4-FFF2-40B4-BE49-F238E27FC236}">
                <a16:creationId xmlns:a16="http://schemas.microsoft.com/office/drawing/2014/main" id="{7A244DCC-8C30-4BCA-9AA6-D99397CEEF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70675"/>
            <a:ext cx="8520600" cy="4119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</a:pPr>
            <a:r>
              <a:rPr lang="en-US" altLang="ko-KR" sz="3000" b="1" dirty="0">
                <a:latin typeface="+mj-ea"/>
                <a:ea typeface="+mj-ea"/>
              </a:rPr>
              <a:t>&lt;</a:t>
            </a:r>
            <a:r>
              <a:rPr lang="ko-KR" altLang="en-US" sz="3000" b="1" dirty="0">
                <a:latin typeface="+mj-ea"/>
                <a:ea typeface="+mj-ea"/>
              </a:rPr>
              <a:t>역할</a:t>
            </a:r>
            <a:r>
              <a:rPr lang="en-US" altLang="ko-KR" sz="3000" b="1" dirty="0">
                <a:latin typeface="+mj-ea"/>
                <a:ea typeface="+mj-ea"/>
              </a:rPr>
              <a:t>2&gt;</a:t>
            </a:r>
            <a:r>
              <a:rPr lang="ko-KR" altLang="en-US" b="1" dirty="0">
                <a:latin typeface="+mj-ea"/>
                <a:ea typeface="+mj-ea"/>
              </a:rPr>
              <a:t>주제 탐구 제목 </a:t>
            </a:r>
            <a:r>
              <a:rPr lang="en-US" altLang="ko-KR" sz="3000" b="1" dirty="0">
                <a:latin typeface="+mj-ea"/>
                <a:ea typeface="+mj-ea"/>
              </a:rPr>
              <a:t>– </a:t>
            </a:r>
            <a:r>
              <a:rPr lang="ko-KR" altLang="en-US" sz="3000" b="1" dirty="0">
                <a:latin typeface="+mj-ea"/>
                <a:ea typeface="+mj-ea"/>
              </a:rPr>
              <a:t>조사 및 정리한 결과</a:t>
            </a:r>
            <a:br>
              <a:rPr lang="en-US" altLang="ko-KR" sz="3000" b="1" dirty="0">
                <a:latin typeface="+mj-ea"/>
                <a:ea typeface="+mj-ea"/>
              </a:rPr>
            </a:br>
            <a:r>
              <a:rPr lang="ko-KR" altLang="en-US" sz="2500" b="1" dirty="0">
                <a:latin typeface="+mn-ea"/>
                <a:ea typeface="+mn-ea"/>
              </a:rPr>
              <a:t>역할 분담 </a:t>
            </a:r>
            <a:r>
              <a:rPr lang="en-US" altLang="ko-KR" sz="2500" b="1" dirty="0">
                <a:latin typeface="+mn-ea"/>
                <a:ea typeface="+mn-ea"/>
              </a:rPr>
              <a:t>: 1831</a:t>
            </a:r>
            <a:r>
              <a:rPr lang="ko-KR" altLang="en-US" sz="2500" b="1" dirty="0">
                <a:latin typeface="+mn-ea"/>
                <a:ea typeface="+mn-ea"/>
              </a:rPr>
              <a:t> 김</a:t>
            </a:r>
            <a:r>
              <a:rPr lang="en-US" altLang="ko-KR" sz="2500" b="1" dirty="0">
                <a:latin typeface="+mn-ea"/>
                <a:ea typeface="+mn-ea"/>
              </a:rPr>
              <a:t>OO</a:t>
            </a:r>
            <a:br>
              <a:rPr lang="en-US" altLang="ko-KR" sz="2500" b="1" dirty="0"/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주제와 관련하여 서적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기사 등 조사한 내용을 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간략하게 </a:t>
            </a:r>
            <a:r>
              <a:rPr lang="ko-KR" altLang="en-US" sz="2000" dirty="0" err="1">
                <a:solidFill>
                  <a:srgbClr val="FF0000"/>
                </a:solidFill>
                <a:latin typeface="+mn-ea"/>
                <a:ea typeface="+mn-ea"/>
              </a:rPr>
              <a:t>구조화하여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 표현하기</a:t>
            </a:r>
            <a:b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출처 꼭 기재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!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예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책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  <a:ea typeface="+mn-ea"/>
              </a:rPr>
              <a:t>한국사특강편찬위원회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“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한국사특강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”,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서울대학교출판문화원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1990.</a:t>
            </a:r>
            <a:b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       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신문 기사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기사 제목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신문사 이름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게시 일자</a:t>
            </a:r>
            <a:b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       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온라인 뉴스 기사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기사 제목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뉴스 사이트 이름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게시 일자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URL(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주소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b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- 2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슬라이드 이상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endParaRPr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54DF1340-F845-475D-8704-0C349907F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70675"/>
            <a:ext cx="8520600" cy="4119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</a:pPr>
            <a:r>
              <a:rPr lang="en-US" altLang="ko-KR" sz="3000" b="1" dirty="0">
                <a:latin typeface="+mj-ea"/>
                <a:ea typeface="+mj-ea"/>
              </a:rPr>
              <a:t>&lt;</a:t>
            </a:r>
            <a:r>
              <a:rPr lang="ko-KR" altLang="en-US" sz="3000" b="1" dirty="0">
                <a:latin typeface="+mj-ea"/>
                <a:ea typeface="+mj-ea"/>
              </a:rPr>
              <a:t>역할</a:t>
            </a:r>
            <a:r>
              <a:rPr lang="en-US" altLang="ko-KR" sz="3000" b="1" dirty="0">
                <a:latin typeface="+mj-ea"/>
                <a:ea typeface="+mj-ea"/>
              </a:rPr>
              <a:t>3&gt;</a:t>
            </a:r>
            <a:r>
              <a:rPr lang="ko-KR" altLang="en-US" b="1" dirty="0">
                <a:latin typeface="+mj-ea"/>
                <a:ea typeface="+mj-ea"/>
              </a:rPr>
              <a:t>주제 탐구 제목 </a:t>
            </a:r>
            <a:r>
              <a:rPr lang="en-US" altLang="ko-KR" sz="3000" b="1" dirty="0">
                <a:latin typeface="+mj-ea"/>
                <a:ea typeface="+mj-ea"/>
              </a:rPr>
              <a:t>– </a:t>
            </a:r>
            <a:r>
              <a:rPr lang="ko-KR" altLang="en-US" sz="3000" b="1" dirty="0">
                <a:latin typeface="+mj-ea"/>
                <a:ea typeface="+mj-ea"/>
              </a:rPr>
              <a:t>관련 영상 및 사진 자료</a:t>
            </a:r>
            <a:br>
              <a:rPr lang="en-US" altLang="ko-KR" sz="3000" b="1" dirty="0">
                <a:latin typeface="+mj-ea"/>
                <a:ea typeface="+mj-ea"/>
              </a:rPr>
            </a:br>
            <a:r>
              <a:rPr lang="ko-KR" altLang="en-US" sz="2500" b="1" dirty="0">
                <a:latin typeface="+mj-ea"/>
                <a:ea typeface="+mj-ea"/>
              </a:rPr>
              <a:t>역할</a:t>
            </a:r>
            <a:r>
              <a:rPr lang="en-US" altLang="ko-KR" sz="2500" b="1" dirty="0">
                <a:latin typeface="+mj-ea"/>
                <a:ea typeface="+mj-ea"/>
              </a:rPr>
              <a:t> </a:t>
            </a:r>
            <a:r>
              <a:rPr lang="ko-KR" altLang="en-US" sz="2500" b="1" dirty="0">
                <a:latin typeface="+mj-ea"/>
                <a:ea typeface="+mj-ea"/>
              </a:rPr>
              <a:t>분담 </a:t>
            </a:r>
            <a:r>
              <a:rPr lang="en-US" altLang="ko-KR" sz="2500" b="1" dirty="0">
                <a:latin typeface="+mj-ea"/>
                <a:ea typeface="+mj-ea"/>
              </a:rPr>
              <a:t>: 1832 </a:t>
            </a:r>
            <a:r>
              <a:rPr lang="ko-KR" altLang="en-US" sz="2500" b="1" dirty="0">
                <a:latin typeface="+mj-ea"/>
                <a:ea typeface="+mj-ea"/>
              </a:rPr>
              <a:t>이</a:t>
            </a:r>
            <a:r>
              <a:rPr lang="en-US" altLang="ko-KR" sz="2500" b="1" dirty="0">
                <a:latin typeface="+mj-ea"/>
                <a:ea typeface="+mj-ea"/>
              </a:rPr>
              <a:t>OO</a:t>
            </a:r>
            <a:br>
              <a:rPr lang="en-US" altLang="ko-KR" sz="2500" b="1" dirty="0"/>
            </a:b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조사 및 정리한 결과와 겹치지 않는 추가 자료 제시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주로 영상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사진 등의 자료를 첨부하기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출처 꼭 기재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!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예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책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  <a:ea typeface="+mn-ea"/>
              </a:rPr>
              <a:t>한국사특강편찬위원회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“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한국사특강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”,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서울대학교출판문화원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1990.</a:t>
            </a:r>
            <a:b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       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신문 기사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기사 제목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신문사 이름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게시 일자</a:t>
            </a:r>
            <a:b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       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온라인 뉴스 기사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기사 제목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뉴스 사이트 이름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게시 일자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, URL(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주소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- 2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슬라이드 이상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endParaRPr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734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1;p14">
            <a:extLst>
              <a:ext uri="{FF2B5EF4-FFF2-40B4-BE49-F238E27FC236}">
                <a16:creationId xmlns:a16="http://schemas.microsoft.com/office/drawing/2014/main" id="{9E58475C-EE37-4B74-95E1-D4416519E7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50505"/>
            <a:ext cx="8520600" cy="4119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</a:pPr>
            <a:r>
              <a:rPr lang="en-US" altLang="ko-KR" sz="3000" b="1" dirty="0">
                <a:latin typeface="+mj-ea"/>
                <a:ea typeface="+mj-ea"/>
              </a:rPr>
              <a:t>&lt;</a:t>
            </a:r>
            <a:r>
              <a:rPr lang="ko-KR" altLang="en-US" sz="3000" b="1" dirty="0">
                <a:latin typeface="+mj-ea"/>
                <a:ea typeface="+mj-ea"/>
              </a:rPr>
              <a:t>역할</a:t>
            </a:r>
            <a:r>
              <a:rPr lang="en-US" altLang="ko-KR" sz="3000" b="1" dirty="0">
                <a:latin typeface="+mj-ea"/>
                <a:ea typeface="+mj-ea"/>
              </a:rPr>
              <a:t>4&gt; </a:t>
            </a:r>
            <a:r>
              <a:rPr lang="ko-KR" altLang="en-US" sz="3000" b="1" dirty="0">
                <a:latin typeface="+mj-ea"/>
                <a:ea typeface="+mj-ea"/>
              </a:rPr>
              <a:t>해당 주제의 의미 및 </a:t>
            </a:r>
            <a:r>
              <a:rPr lang="ko-KR" altLang="en-US" sz="3000" b="1" dirty="0" err="1">
                <a:latin typeface="+mj-ea"/>
                <a:ea typeface="+mj-ea"/>
              </a:rPr>
              <a:t>교훈점</a:t>
            </a:r>
            <a:br>
              <a:rPr lang="en-US" altLang="ko-KR" sz="3000" b="1" dirty="0">
                <a:latin typeface="+mj-ea"/>
                <a:ea typeface="+mj-ea"/>
              </a:rPr>
            </a:br>
            <a:r>
              <a:rPr lang="ko-KR" altLang="en-US" sz="2500" b="1" dirty="0">
                <a:latin typeface="+mj-ea"/>
                <a:ea typeface="+mj-ea"/>
              </a:rPr>
              <a:t>역할</a:t>
            </a:r>
            <a:r>
              <a:rPr lang="en-US" altLang="ko-KR" sz="2500" b="1" dirty="0">
                <a:latin typeface="+mj-ea"/>
                <a:ea typeface="+mj-ea"/>
              </a:rPr>
              <a:t> </a:t>
            </a:r>
            <a:r>
              <a:rPr lang="ko-KR" altLang="en-US" sz="2500" b="1" dirty="0">
                <a:latin typeface="+mj-ea"/>
                <a:ea typeface="+mj-ea"/>
              </a:rPr>
              <a:t>분담 </a:t>
            </a:r>
            <a:r>
              <a:rPr lang="en-US" altLang="ko-KR" sz="2500" b="1" dirty="0">
                <a:latin typeface="+mj-ea"/>
                <a:ea typeface="+mj-ea"/>
              </a:rPr>
              <a:t>: 1833 </a:t>
            </a:r>
            <a:r>
              <a:rPr lang="ko-KR" altLang="en-US" sz="2500" b="1" dirty="0">
                <a:latin typeface="+mj-ea"/>
                <a:ea typeface="+mj-ea"/>
              </a:rPr>
              <a:t>박</a:t>
            </a:r>
            <a:r>
              <a:rPr lang="en-US" altLang="ko-KR" sz="2500" b="1" dirty="0">
                <a:latin typeface="+mj-ea"/>
                <a:ea typeface="+mj-ea"/>
              </a:rPr>
              <a:t>OO</a:t>
            </a:r>
            <a:br>
              <a:rPr lang="en-US" altLang="ko-KR" sz="3000" b="1" dirty="0"/>
            </a:br>
            <a:br>
              <a:rPr lang="en-US" altLang="ko-KR" sz="2500" b="1" dirty="0"/>
            </a:b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해당 주제를 탐구하는 것이 한국사 영역에서 어떤 의미가 있는지</a:t>
            </a:r>
            <a:b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n-ea"/>
                <a:ea typeface="+mn-ea"/>
              </a:rPr>
              <a:t>교훈점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 제시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- 2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슬라이드 이상</a:t>
            </a:r>
            <a:b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</a:br>
            <a:endParaRPr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623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1;p14">
            <a:extLst>
              <a:ext uri="{FF2B5EF4-FFF2-40B4-BE49-F238E27FC236}">
                <a16:creationId xmlns:a16="http://schemas.microsoft.com/office/drawing/2014/main" id="{C5FAB837-FE4F-43FA-A3A0-69D003616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70675"/>
            <a:ext cx="8520600" cy="4119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</a:pPr>
            <a:r>
              <a:rPr lang="en-US" altLang="ko-KR" sz="3000" b="1" dirty="0">
                <a:latin typeface="+mj-ea"/>
                <a:ea typeface="+mj-ea"/>
              </a:rPr>
              <a:t>&lt;</a:t>
            </a:r>
            <a:r>
              <a:rPr lang="ko-KR" altLang="en-US" sz="3000" b="1" dirty="0">
                <a:latin typeface="+mj-ea"/>
                <a:ea typeface="+mj-ea"/>
              </a:rPr>
              <a:t>역할</a:t>
            </a:r>
            <a:r>
              <a:rPr lang="en-US" altLang="ko-KR" sz="3000" b="1" dirty="0">
                <a:solidFill>
                  <a:schemeClr val="tx1"/>
                </a:solidFill>
                <a:latin typeface="+mj-ea"/>
                <a:ea typeface="+mj-ea"/>
              </a:rPr>
              <a:t>5</a:t>
            </a:r>
            <a:r>
              <a:rPr lang="en-US" altLang="ko-KR" sz="3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500" b="1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2500" b="1" dirty="0" err="1">
                <a:solidFill>
                  <a:srgbClr val="FF0000"/>
                </a:solidFill>
                <a:latin typeface="+mj-ea"/>
                <a:ea typeface="+mj-ea"/>
              </a:rPr>
              <a:t>모둠원</a:t>
            </a:r>
            <a:r>
              <a:rPr lang="ko-KR" altLang="en-US" sz="25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500" b="1" dirty="0">
                <a:solidFill>
                  <a:srgbClr val="FF0000"/>
                </a:solidFill>
                <a:latin typeface="+mj-ea"/>
                <a:ea typeface="+mj-ea"/>
              </a:rPr>
              <a:t>5</a:t>
            </a:r>
            <a:r>
              <a:rPr lang="ko-KR" altLang="en-US" sz="2500" b="1" dirty="0">
                <a:solidFill>
                  <a:srgbClr val="FF0000"/>
                </a:solidFill>
                <a:latin typeface="+mj-ea"/>
                <a:ea typeface="+mj-ea"/>
              </a:rPr>
              <a:t>명인 경우</a:t>
            </a:r>
            <a:r>
              <a:rPr lang="en-US" altLang="ko-KR" sz="25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ko-KR" altLang="en-US" sz="25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3000" b="1" dirty="0">
                <a:latin typeface="+mj-ea"/>
                <a:ea typeface="+mj-ea"/>
              </a:rPr>
              <a:t>&gt; </a:t>
            </a:r>
            <a:r>
              <a:rPr lang="ko-KR" altLang="en-US" sz="3000" b="1" dirty="0">
                <a:latin typeface="+mj-ea"/>
                <a:ea typeface="+mj-ea"/>
              </a:rPr>
              <a:t>추가 탐구 주제 제시</a:t>
            </a:r>
            <a:br>
              <a:rPr lang="en-US" altLang="ko-KR" sz="3000" b="1" dirty="0">
                <a:latin typeface="+mj-ea"/>
                <a:ea typeface="+mj-ea"/>
              </a:rPr>
            </a:br>
            <a:r>
              <a:rPr lang="ko-KR" altLang="en-US" sz="2500" b="1" dirty="0">
                <a:latin typeface="+mj-ea"/>
                <a:ea typeface="+mj-ea"/>
              </a:rPr>
              <a:t>역할</a:t>
            </a:r>
            <a:r>
              <a:rPr lang="en-US" altLang="ko-KR" sz="2500" b="1" dirty="0">
                <a:latin typeface="+mj-ea"/>
                <a:ea typeface="+mj-ea"/>
              </a:rPr>
              <a:t> </a:t>
            </a:r>
            <a:r>
              <a:rPr lang="ko-KR" altLang="en-US" sz="2500" b="1" dirty="0">
                <a:latin typeface="+mj-ea"/>
                <a:ea typeface="+mj-ea"/>
              </a:rPr>
              <a:t>분담 </a:t>
            </a:r>
            <a:r>
              <a:rPr lang="en-US" altLang="ko-KR" sz="2500" b="1" dirty="0">
                <a:latin typeface="+mj-ea"/>
                <a:ea typeface="+mj-ea"/>
              </a:rPr>
              <a:t>: 1834 </a:t>
            </a:r>
            <a:r>
              <a:rPr lang="ko-KR" altLang="en-US" sz="2500" b="1" dirty="0">
                <a:latin typeface="+mj-ea"/>
                <a:ea typeface="+mj-ea"/>
              </a:rPr>
              <a:t>정</a:t>
            </a:r>
            <a:r>
              <a:rPr lang="en-US" altLang="ko-KR" sz="2500" b="1" dirty="0">
                <a:latin typeface="+mj-ea"/>
                <a:ea typeface="+mj-ea"/>
              </a:rPr>
              <a:t>OO</a:t>
            </a:r>
            <a:br>
              <a:rPr lang="en-US" altLang="ko-KR" sz="2500" b="1" dirty="0">
                <a:latin typeface="+mj-ea"/>
                <a:ea typeface="+mj-ea"/>
              </a:rPr>
            </a:br>
            <a:br>
              <a:rPr lang="en-US" altLang="ko-KR" sz="2500" b="1" dirty="0">
                <a:latin typeface="+mj-ea"/>
                <a:ea typeface="+mj-ea"/>
              </a:rPr>
            </a:b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해당 주제와 관련된 추가 탐구 주제 제시</a:t>
            </a:r>
            <a:b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출처 꼭 기재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!</a:t>
            </a:r>
            <a:br>
              <a:rPr lang="en-US" altLang="ko-KR" sz="2400" b="1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ko-KR" altLang="en-US" sz="24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예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)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책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  <a:ea typeface="+mn-ea"/>
              </a:rPr>
              <a:t>한국사특강편찬위원회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, “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한국사특강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”,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서울대학교출판문화원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, 1990.</a:t>
            </a:r>
            <a:b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       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신문 기사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기사 제목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신문사 이름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게시 일자</a:t>
            </a:r>
            <a:b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       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온라인 뉴스 기사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기사 제목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뉴스 사이트 이름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게시 일자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, URL(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</a:rPr>
              <a:t>주소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b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ko-KR" sz="2000" b="1" dirty="0">
                <a:solidFill>
                  <a:srgbClr val="FF0000"/>
                </a:solidFill>
                <a:latin typeface="+mn-ea"/>
                <a:ea typeface="+mn-ea"/>
              </a:rPr>
              <a:t>- 2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  <a:ea typeface="+mn-ea"/>
              </a:rPr>
              <a:t>슬라이드 이상</a:t>
            </a:r>
            <a:b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</a:rPr>
            </a:br>
            <a:b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</a:br>
            <a:b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</a:br>
            <a:endParaRPr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362080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491</Words>
  <Application>Microsoft Office PowerPoint</Application>
  <PresentationFormat>화면 슬라이드 쇼(16:9)</PresentationFormat>
  <Paragraphs>22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Simple Light</vt:lpstr>
      <vt:lpstr>선정한 주제 입력</vt:lpstr>
      <vt:lpstr>PowerPoint 프레젠테이션</vt:lpstr>
      <vt:lpstr>&lt;역할1&gt; 읽은 책 소개 &amp; 주제 선정 이유  역할 분담 : 1830 홍길동  - 해당 주제를 선정한 학생이 작성할 것 - 2슬라이드 이상 - 간단한 책 소개(사진, 작가의 소개글, 핵심 내용 등 적절하게 구성) - 주제 선정 이유(주제가 어떤 의미가 있는지, 왜 궁금했는지 등) </vt:lpstr>
      <vt:lpstr>&lt;역할2&gt;주제 탐구 제목 – 조사 및 정리한 결과 역할 분담 : 1831 김OO - 주제와 관련하여 서적, 기사 등 조사한 내용을    간략하게 구조화하여 표현하기 - 출처 꼭 기재!   예) 책 : 한국사특강편찬위원회, “한국사특강”, 서울대학교출판문화원, 1990.         신문 기사 : 기사 제목, 신문사 이름, 게시 일자         온라인 뉴스 기사 : 기사 제목, 뉴스 사이트 이름, 게시 일자, URL(주소) - 2슬라이드 이상 </vt:lpstr>
      <vt:lpstr>&lt;역할3&gt;주제 탐구 제목 – 관련 영상 및 사진 자료 역할 분담 : 1832 이OO - 조사 및 정리한 결과와 겹치지 않는 추가 자료 제시 - 주로 영상, 사진 등의 자료를 첨부하기 - 출처 꼭 기재!   예) 책 : 한국사특강편찬위원회, “한국사특강”, 서울대학교출판문화원, 1990.         신문 기사 : 기사 제목, 신문사 이름, 게시 일자         온라인 뉴스 기사 : 기사 제목, 뉴스 사이트 이름, 게시 일자, URL(주소) - 2슬라이드 이상 </vt:lpstr>
      <vt:lpstr>&lt;역할4&gt; 해당 주제의 의미 및 교훈점 역할 분담 : 1833 박OO  - 해당 주제를 탐구하는 것이 한국사 영역에서 어떤 의미가 있는지 - 교훈점 제시 - 2슬라이드 이상 </vt:lpstr>
      <vt:lpstr>&lt;역할5 (모둠원 5명인 경우) &gt; 추가 탐구 주제 제시 역할 분담 : 1834 정OO  - 해당 주제와 관련된 추가 탐구 주제 제시 - 출처 꼭 기재!   예) 책 : 한국사특강편찬위원회, “한국사특강”, 서울대학교출판문화원, 1990.         신문 기사 : 기사 제목, 신문사 이름, 게시 일자         온라인 뉴스 기사 : 기사 제목, 뉴스 사이트 이름, 게시 일자, URL(주소) - 2슬라이드 이상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주제탐구  제목 입력</dc:title>
  <dc:creator>owner</dc:creator>
  <cp:lastModifiedBy>BRC</cp:lastModifiedBy>
  <cp:revision>14</cp:revision>
  <dcterms:modified xsi:type="dcterms:W3CDTF">2024-05-22T11:43:23Z</dcterms:modified>
</cp:coreProperties>
</file>